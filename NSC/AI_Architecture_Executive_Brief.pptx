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11990527" cy="6858000"/>
          </a:xfrm>
          <a:prstGeom prst="rect">
            <a:avLst/>
          </a:prstGeom>
          <a:solidFill>
            <a:srgbClr val="132B4E">
              <a:alpha val="30000"/>
            </a:srgbClr>
          </a:solidFill>
          <a:ln w="12700">
            <a:solidFill>
              <a:srgbClr val="132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REFERENCE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on-premises design for government data &amp; analytics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(Connected)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· Enrichment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Gateway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· Dual approval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(Closed)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 · 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Data &amp; Analytics Function  · 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architecture enables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on-premises AI platform that collects external information, receives controlled internal submissions, uses frontier LLMs where policy allows, transfers approved artifacts into an air-gapped environment, and delivers trusted analytics and local AI with auditable human accountability.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265176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(connected) and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— both on-prem.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4688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468880"/>
            <a:ext cx="265176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1-way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47472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open → closed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only, via governed gateway.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468880"/>
            <a:ext cx="265176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STACKS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LLMs (open)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open-source (closed).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61120" y="24688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0" y="2468880"/>
            <a:ext cx="265176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C0–C4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14400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labels drive where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and who uses it.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937760"/>
            <a:ext cx="91440" cy="11887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two-environment trust model, the Policy Gate for internal submissions, the cross-domain gateway design, and the phased implementation roadmap.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constraints that shape the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18488"/>
            <a:ext cx="512064" cy="51206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on-prem environments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(internet-connected) and closed (air-gapped, local network only).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78608"/>
            <a:ext cx="512064" cy="51206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function delivers the service on infrastructure operated by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38728"/>
            <a:ext cx="512064" cy="51206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information sources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feeds and internal team submissions — both initially collected in the open environment.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498848"/>
            <a:ext cx="512064" cy="51206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transfer required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artifacts move from open to closed through a governed, auditable path.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5458968"/>
            <a:ext cx="512064" cy="51206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458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25880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AI stacks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5715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LLMs allowed only in the open environment; local open-source LLMs only in the closed environment.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principles that shape every decision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Trust-boundary-first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driven by risk, not just network topology.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155448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828800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38728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drives placement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8728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 determines where it can live and who can use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155448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91656" y="1828800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91656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movement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91656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data crosses; every movement is logged.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5984" y="155448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44584" y="1828800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4458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44584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 not system of record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44584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&amp; enrichment only — not authoritative.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13048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4087368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LLMs are bounded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138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classify · translate · summarize. Not decisions.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10128" y="3813048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8728" y="4087368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38728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538728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 are anchored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38728" y="5138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retrieval, guardrails, evaluation, audit.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63056" y="3813048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91656" y="4087368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391656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91656" y="5138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high-impact outputs.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15984" y="3813048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244584" y="4087368"/>
            <a:ext cx="640080" cy="6400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44584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244584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cross-domain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244584" y="5138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· DLP · AV · sign · dual-approve · log.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 in one 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ENVIRONMENT · Connected · On-Prem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2057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submissions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743200" y="2377440"/>
            <a:ext cx="128016" cy="18288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2072" y="1783080"/>
            <a:ext cx="2057400" cy="1371600"/>
          </a:xfrm>
          <a:prstGeom prst="rect">
            <a:avLst/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53512" y="2240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· Authenticate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3-path router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965192" y="2377440"/>
            <a:ext cx="128016" cy="18288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1783080"/>
            <a:ext cx="2057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&amp; Prepared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5504" y="2240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raw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· Catalog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187184" y="2377440"/>
            <a:ext cx="128016" cy="18288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1783080"/>
            <a:ext cx="2057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7496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Utility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97496" y="2240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Claude · GPT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409176" y="2377440"/>
            <a:ext cx="128016" cy="18288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28048" y="1783080"/>
            <a:ext cx="2057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9488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Staging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19488" y="2240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· AV · 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approval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3520440"/>
            <a:ext cx="6675120" cy="731520"/>
          </a:xfrm>
          <a:prstGeom prst="rect">
            <a:avLst/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35661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CROSS-DOMAIN GATEWAY · One-way (open → closed)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88920" y="3840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 · Protocol break · Re-inspection · Signature verify · Dual approve · Immutable audit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3246120"/>
            <a:ext cx="0" cy="27432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5989320" y="3447288"/>
            <a:ext cx="182880" cy="13716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4251960"/>
            <a:ext cx="0" cy="27432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0800000">
            <a:off x="5989320" y="4453128"/>
            <a:ext cx="182880" cy="13716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617720"/>
            <a:ext cx="11247120" cy="1828800"/>
          </a:xfrm>
          <a:prstGeom prst="rect">
            <a:avLst/>
          </a:prstGeom>
          <a:solidFill>
            <a:srgbClr val="D1FAE5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ENVIRONMENT · Local Network Only · On-Prem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983480"/>
            <a:ext cx="2057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074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Landing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· Verify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rot="5400000">
            <a:off x="2743200" y="5577840"/>
            <a:ext cx="128016" cy="18288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62072" y="4983480"/>
            <a:ext cx="2057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53512" y="5074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953512" y="5440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Documents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rot="5400000">
            <a:off x="4965192" y="5577840"/>
            <a:ext cx="128016" cy="18288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84064" y="4983480"/>
            <a:ext cx="2057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75504" y="5074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Data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75504" y="5440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Lineage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 rot="5400000">
            <a:off x="7187184" y="5577840"/>
            <a:ext cx="128016" cy="18288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06056" y="4983480"/>
            <a:ext cx="2057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97496" y="5074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Services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97496" y="5440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Vector DB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 rot="5400000">
            <a:off x="9409176" y="5577840"/>
            <a:ext cx="128016" cy="182880"/>
          </a:xfrm>
          <a:prstGeom prst="rt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28048" y="4983480"/>
            <a:ext cx="2057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19488" y="5074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619488" y="5440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· BI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workbench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ENVIRONMENT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staging &amp; external-AI enablement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On-premises, internet-connected, internally segmented. Operated as a staging and enrichment zone — not as the system of record. Frontier LLMs are used only on allowed data classes through a centrally-managed gateway.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2316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5117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Ingestion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9260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API collectors, RSS, file intake, authenticated internal submission endpoints.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242316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2423160"/>
            <a:ext cx="73152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255117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 (critical)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3128" y="29260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every submission and routes it — the key control on the open side.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42316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242316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55117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Landing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47888" y="29260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Near-immutable storage with timestamps, hashes, source IDs, and collection metadata.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43484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562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493776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standardization, deduplication, redaction, classification, metadata tagging.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51960" y="44348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1960" y="443484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4562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Utility Layer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53128" y="493776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→ Gemini, Claude, GPT. Bounded tasks. C0/C1 only. All prompts &amp; outputs logged.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44348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443484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4562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Staging Vault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47888" y="493776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&amp; AV scans, schema checks, manifest, digital signatures, dual-approver release.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Gate — one decision, three paths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internal submissions arrive in the connected environment, every item is classified and routed to exactly one of three paths. This is the most important control on the open side.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2331720"/>
            <a:ext cx="269748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23774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· Classify · Route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3154680" cy="173736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· LLM-ELIGIBLE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9776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/ C1 only.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+ frontier-LLM enrichment allowed via LLM Gateway.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03620" y="3154680"/>
            <a:ext cx="-4069080" cy="365760"/>
          </a:xfrm>
          <a:prstGeom prst="line">
            <a:avLst/>
          </a:prstGeom>
          <a:noFill/>
          <a:ln w="16510">
            <a:solidFill>
              <a:srgbClr val="0B1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520440"/>
            <a:ext cx="3154680" cy="173736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· PREP-ONLY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9776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and above.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only — external AI is never applied to these records.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03620" y="3154680"/>
            <a:ext cx="0" cy="365760"/>
          </a:xfrm>
          <a:prstGeom prst="line">
            <a:avLst/>
          </a:prstGeom>
          <a:noFill/>
          <a:ln w="1651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3520440"/>
            <a:ext cx="3154680" cy="1737360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325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· DIRECT TRANSFER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39776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sensitive items.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preparation; sealed and queued for transfer.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03620" y="3154680"/>
            <a:ext cx="4069080" cy="365760"/>
          </a:xfrm>
          <a:prstGeom prst="line">
            <a:avLst/>
          </a:prstGeom>
          <a:noFill/>
          <a:ln w="16510">
            <a:solidFill>
              <a:srgbClr val="0B1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5577840"/>
            <a:ext cx="4297680" cy="59436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55778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Staging → Cross-Domain Gateway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39112" y="5276088"/>
            <a:ext cx="0" cy="274320"/>
          </a:xfrm>
          <a:prstGeom prst="line">
            <a:avLst/>
          </a:prstGeom>
          <a:noFill/>
          <a:ln w="16510">
            <a:solidFill>
              <a:srgbClr val="0B1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5276088"/>
            <a:ext cx="0" cy="274320"/>
          </a:xfrm>
          <a:prstGeom prst="line">
            <a:avLst/>
          </a:prstGeom>
          <a:noFill/>
          <a:ln w="16510">
            <a:solidFill>
              <a:srgbClr val="0B1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77272" y="5276088"/>
            <a:ext cx="0" cy="274320"/>
          </a:xfrm>
          <a:prstGeom prst="line">
            <a:avLst/>
          </a:prstGeom>
          <a:noFill/>
          <a:ln w="1651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GATEWAY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path — not a network link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sanctioned way for artifacts to cross the trust boundary. Every artifact is classified, scanned, hashed, signed, and dual-approved before it reaches the closed side.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621792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2359152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2860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286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Hard-reject C2+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621792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898648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8254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scan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8254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· secrets · keys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621792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438144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3649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/ AV scan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649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engines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04488"/>
            <a:ext cx="621792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977640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9044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9044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structure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43984"/>
            <a:ext cx="621792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517136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517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4439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+ SHA-256 + signature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44439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proof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983480"/>
            <a:ext cx="621792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5056632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056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49834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human approver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4983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522976"/>
            <a:ext cx="621792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5596128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5596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55229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data diode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55229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physical link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062472"/>
            <a:ext cx="621792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" y="6135624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6135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120" y="60624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Re-inspection on closed side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00600" y="60624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· quarantine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58000" y="2286000"/>
            <a:ext cx="4846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58000" y="2286000"/>
            <a:ext cx="73152" cy="2103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NEVER CROSSES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132320" y="269748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network connections, shells, reverse proxies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credentials, tokens from the open side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sessions, identities, or federation assertions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artifact labeled C2 or above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without a valid, signed manifest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858000" y="4526280"/>
            <a:ext cx="4846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4526280"/>
            <a:ext cx="73152" cy="182880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CADENCE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132320" y="4937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open-source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509760" y="4937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515600" y="4937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32320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LLM-enriched outputs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509760" y="5257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515600" y="5257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32320" y="5577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submissions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509760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received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515600" y="5577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32320" y="5897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509760" y="5897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release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51560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human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ENVIRONMENT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enterprise analysis zone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On-premises, local-network-only. Combines approved imported data with internal systems of record and delivers protected analytics, local AI, and decision support with policy-aware access.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23160"/>
            <a:ext cx="73152" cy="182880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5117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Landing &amp; Import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9260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· verify · re-scan · register imports · quarantine on anomaly.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242316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2423160"/>
            <a:ext cx="73152" cy="182880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255117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Data Foundation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3128" y="29260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operational data, approved imports, master data, protected document stores.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42316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2423160"/>
            <a:ext cx="73152" cy="182880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55117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47888" y="29260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(Raw / Curated / Gold / Semantic), feature store, data products.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434840"/>
            <a:ext cx="73152" cy="182880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562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Services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493776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LLMs, embeddings, rerankers, vector DB, RAG, agents, evaluation.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51960" y="44348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1960" y="4434840"/>
            <a:ext cx="73152" cy="182880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4562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53128" y="493776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reports, analyst workbench, investigation tools, internal APIs.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44348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4434840"/>
            <a:ext cx="73152" cy="182880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4562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Policy-aware Access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47888" y="493776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&amp; column policies tied to data class × user clearance × purpose.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LAYER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AI stacks — by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LLMs enrich open-source material in the connected environment. Local open-source LLMs produce authoritative outputs inside the air-gapped environment. Neither crosses the boundary.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577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55778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86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SIDE · Frontier LLM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routes Gemini / Claude / GPT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held only in the gateway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Per-team quotas and cost caps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&amp; responses logged (secrets redacted)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enforcement — C0 / C1 only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 gates all changes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tasks — extract · classify · translate · summarize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5577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2286000"/>
            <a:ext cx="5577840" cy="45720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286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SIDE · Local LLM Platform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288036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 for inference (vLLM / TGI / Triton)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models — Llama / Qwen / Mistral family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rerankers, vector DB (pgvector / Milvus / Qdrant)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retrieve → rerank → filter by clearance → generate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 — tools restricted to internal APIs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(LoRA / QLoRA) — weights stay inside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with signed weights &amp; provenance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classes govern where data can live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dataset, document, prompt, and model artifact carries a label. The label determines where it can live, which LLMs may see it, and who can access it.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2926080"/>
                <a:gridCol w="164592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environments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LLMs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+ 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News, published open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Internal-Open (non-sensitive)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+ 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Non-sensitive derived indicators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reports, internal statistics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only (restricted)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data, case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Sensitive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only (enclave)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Classified or legally-held 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5577840"/>
            <a:ext cx="9144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points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5879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assigned at ingestion, enforced at the Policy Gate, re-enforced at the LLM Gateway, re-checked by the Transfer Gateway, and applied again at query-time on the closed side.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ROUTING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rule for where each use case belongs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are routed by data sensitivity, need for enterprise context, and intended business outcome.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data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 / C1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/ C3 / C4 (and combinations)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AI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 · translation · summarization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· analyst copilots · decision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Preparation &amp; enrichment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analysis &amp; official consumption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LLMs via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open-source / self-hosted LLMs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before 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high-impact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residency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Non-authoritative staging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Authoritative system of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5486400"/>
            <a:ext cx="91440" cy="91440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ROUTING RULE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use case needs internal protected data, combines internal and external information, or supports an official decision — it belongs in the closed environment.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collection to decision support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emits metadata and audit records; lineage is preserved end-to-end.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361188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167128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671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+ internal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enter open env.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96596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965960"/>
            <a:ext cx="361188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6552" y="2167128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1671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route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 routes each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to one of three paths.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965960"/>
            <a:ext cx="361188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1312" y="2167128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32520" y="21671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3252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quality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20440"/>
            <a:ext cx="361188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3721608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7216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(LLM)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05079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LLMs on C0/C1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only; all prompts logged.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51960" y="35204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51960" y="3520440"/>
            <a:ext cx="361188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16552" y="3721608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16552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37760" y="37216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package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405079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+ security 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off; sign + manifest.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46720" y="35204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46720" y="3520440"/>
            <a:ext cx="361188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11312" y="3721608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1312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732520" y="37216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32520" y="405079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gateway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re-inspects artifacts.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0749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5074920"/>
            <a:ext cx="361188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" y="5276088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43000" y="52760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integrate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143000" y="560527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side fuses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systems of record.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51960" y="50749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251960" y="5074920"/>
            <a:ext cx="361188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16552" y="5276088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16552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937760" y="52760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(local AI)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937760" y="560527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 + RAG produce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clearance-aware output.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46720" y="50749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046720" y="5074920"/>
            <a:ext cx="3611880" cy="73152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11312" y="5276088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11312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732520" y="52760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decisions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732520" y="560527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workbench,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on impact.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across four roles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691640"/>
            <a:ext cx="1051560" cy="10515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691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Function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compute, storage, segmentation, transfer mechanisms, patching, backups, monitoring.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1691640"/>
            <a:ext cx="1051560" cy="10515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691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metadata, data quality, prompt patterns, AI use cases, semantic models, delivery.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691640"/>
            <a:ext cx="1051560" cy="10515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691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policy, public-LLM guardrails, transfer controls, risk review, audit.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150876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84080" y="1691640"/>
            <a:ext cx="1051560" cy="10515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1691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09828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9828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prioritization, acceptance criteria, human approval of high-impact outputs.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4712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645920"/>
                <a:gridCol w="164592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provisioning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Cross-domain gateway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ingestion pipelines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classification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selection &amp;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promotion to prod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over 12+ months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743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7432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130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mo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RACI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provisioned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installed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zones built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743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783080"/>
            <a:ext cx="27432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2130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OPEN-SIDE MVP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337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feeds end-to-end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 live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live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transfers running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783080"/>
            <a:ext cx="2743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783080"/>
            <a:ext cx="27432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2130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mo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CLOSED-SIDE MVP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337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&amp; catalog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connectors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integrated use case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0" y="1783080"/>
            <a:ext cx="2743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0" y="1783080"/>
            <a:ext cx="27432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0" y="2130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 mo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INDUSTRIALIZE &amp; SCALE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0" y="3337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sources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&amp; DR drills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6355080"/>
            <a:ext cx="7772400" cy="0"/>
          </a:xfrm>
          <a:prstGeom prst="line">
            <a:avLst/>
          </a:prstGeom>
          <a:noFill/>
          <a:ln w="25400">
            <a:solidFill>
              <a:srgbClr val="C9A64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is asked to approve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8288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10515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59105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trust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9202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open + air-gapped pattern with a one-way transfer path.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463040"/>
            <a:ext cx="73152" cy="10515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159105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LLM scope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19202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frontier LLM use to the open environment and only to C0 / C1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73152" cy="10515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277977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 for internal submissions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1089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three-path routing model as the critical open-side control.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65176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651760"/>
            <a:ext cx="73152" cy="10515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92608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277977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Closed-side authoritative outputs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31089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analytics &amp; official decision support execute inside the closed env.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840480"/>
            <a:ext cx="73152" cy="10515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25880" y="396849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taxonomy (C0–C4)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25880" y="4297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five-class model and its enforcement points.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384048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3840480"/>
            <a:ext cx="73152" cy="10515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40880" y="396849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split (RACI)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40880" y="4297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split across IT, Data &amp; Analytics, Security, and Business Owners.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02920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5029200"/>
            <a:ext cx="73152" cy="10515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530352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325880" y="51572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gateway design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325880" y="5486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one-way gateway with DLP, AV, manifest, signing, dual approval.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72200" y="502920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72200" y="5029200"/>
            <a:ext cx="73152" cy="10515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530352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040880" y="51572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 &amp; funding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040880" y="5486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four-phase delivery plan and its funding profile.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6556248"/>
            <a:ext cx="12191695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6556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AI Architecture  ·  Executive Reference Design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277295" y="65562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DESIGN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two-environment AI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agency will implement a two-environment on-premises AI architecture. The connected environment supports external data acquisition, controlled internal intake through a policy gate, preprocessing, and bounded use of frontier LLMs on allowed data classes. The air-gapped environment hosts the trusted enterprise data foundation, local AI services, analytics workloads, and protected decision-support applications. Movement from open to closed occurs only through a secure, governed, one-way transfer path with classification, DLP, AV, integrity, approval, and audit controls.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394960"/>
            <a:ext cx="347472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86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5897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One-way, governed transfer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dual control.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5394960"/>
            <a:ext cx="347472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5486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5897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reasoning on sensitive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on-premises.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5394960"/>
            <a:ext cx="347472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5486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5897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high-impact output.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Two-Environment AI Architecture</dc:title>
  <dc:subject>PptxGenJS Presentation</dc:subject>
  <dc:creator>Data &amp; Analytics Function</dc:creator>
  <cp:lastModifiedBy>Data &amp; Analytics Function</cp:lastModifiedBy>
  <cp:revision>1</cp:revision>
  <dcterms:created xsi:type="dcterms:W3CDTF">2026-04-18T15:27:10Z</dcterms:created>
  <dcterms:modified xsi:type="dcterms:W3CDTF">2026-04-18T15:27:10Z</dcterms:modified>
</cp:coreProperties>
</file>